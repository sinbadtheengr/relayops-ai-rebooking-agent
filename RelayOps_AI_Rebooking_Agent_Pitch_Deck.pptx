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fb01c0a80245c1" /><Relationship Type="http://schemas.openxmlformats.org/officeDocument/2006/relationships/extended-properties" Target="/docProps/app.xml" Id="R7af2a3d1565c4e5c" /><Relationship Type="http://schemas.openxmlformats.org/officeDocument/2006/relationships/officeDocument" Target="/ppt/presentation.xml" Id="R8065dd3c6b6946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41587dc71a40ac"/>
  </p:sldMasterIdLst>
  <p:notesMasterIdLst>
    <p:notesMasterId xmlns:r="http://schemas.openxmlformats.org/officeDocument/2006/relationships" r:id="R6843360d69fa4f2c"/>
  </p:notesMasterIdLst>
  <p:sldIdLst>
    <p:sldId xmlns:r="http://schemas.openxmlformats.org/officeDocument/2006/relationships" id="256" r:id="R919cf14c151243d1"/>
    <p:sldId xmlns:r="http://schemas.openxmlformats.org/officeDocument/2006/relationships" id="257" r:id="R8af0bfa41a9d4eda"/>
    <p:sldId xmlns:r="http://schemas.openxmlformats.org/officeDocument/2006/relationships" id="258" r:id="R706c73ceb4834d58"/>
    <p:sldId xmlns:r="http://schemas.openxmlformats.org/officeDocument/2006/relationships" id="259" r:id="R1cd6893e505147d5"/>
    <p:sldId xmlns:r="http://schemas.openxmlformats.org/officeDocument/2006/relationships" id="260" r:id="R3165cdf853ac463e"/>
    <p:sldId xmlns:r="http://schemas.openxmlformats.org/officeDocument/2006/relationships" id="261" r:id="R8495a8d37ad14bd4"/>
    <p:sldId xmlns:r="http://schemas.openxmlformats.org/officeDocument/2006/relationships" id="262" r:id="Re76545ad4eae41f8"/>
    <p:sldId xmlns:r="http://schemas.openxmlformats.org/officeDocument/2006/relationships" id="263" r:id="R32274464eab04e2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ba7e1a4d424177" /><Relationship Type="http://schemas.openxmlformats.org/officeDocument/2006/relationships/slideMaster" Target="/ppt/slideMasters/slideMaster1.xml" Id="Ra941587dc71a40ac" /><Relationship Type="http://schemas.openxmlformats.org/officeDocument/2006/relationships/notesMaster" Target="/ppt/notesMasters/notesMaster1.xml" Id="R6843360d69fa4f2c" /><Relationship Type="http://schemas.openxmlformats.org/officeDocument/2006/relationships/presProps" Target="/ppt/presProps.xml" Id="Rfe6f2367dc4b403a" /><Relationship Type="http://schemas.openxmlformats.org/officeDocument/2006/relationships/tableStyles" Target="/ppt/tableStyles.xml" Id="Re8f774b5902a4ef8" /><Relationship Type="http://schemas.openxmlformats.org/officeDocument/2006/relationships/slide" Target="/ppt/slides/slide1.xml" Id="R919cf14c151243d1" /><Relationship Type="http://schemas.openxmlformats.org/officeDocument/2006/relationships/slide" Target="/ppt/slides/slide2.xml" Id="R8af0bfa41a9d4eda" /><Relationship Type="http://schemas.openxmlformats.org/officeDocument/2006/relationships/slide" Target="/ppt/slides/slide3.xml" Id="R706c73ceb4834d58" /><Relationship Type="http://schemas.openxmlformats.org/officeDocument/2006/relationships/slide" Target="/ppt/slides/slide4.xml" Id="R1cd6893e505147d5" /><Relationship Type="http://schemas.openxmlformats.org/officeDocument/2006/relationships/slide" Target="/ppt/slides/slide5.xml" Id="R3165cdf853ac463e" /><Relationship Type="http://schemas.openxmlformats.org/officeDocument/2006/relationships/slide" Target="/ppt/slides/slide6.xml" Id="R8495a8d37ad14bd4" /><Relationship Type="http://schemas.openxmlformats.org/officeDocument/2006/relationships/slide" Target="/ppt/slides/slide7.xml" Id="Re76545ad4eae41f8" /><Relationship Type="http://schemas.openxmlformats.org/officeDocument/2006/relationships/slide" Target="/ppt/slides/slide8.xml" Id="R32274464eab04e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9ea78d8ac04a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5835e78d064ec8" /><Relationship Type="http://schemas.openxmlformats.org/officeDocument/2006/relationships/notesMaster" Target="/ppt/notesMasters/notesMaster1.xml" Id="R365536afad074d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ffcadf8379940eb" /><Relationship Type="http://schemas.openxmlformats.org/officeDocument/2006/relationships/notesMaster" Target="/ppt/notesMasters/notesMaster1.xml" Id="R2d693a213ea34d8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a37a44d5ec42e6" /><Relationship Type="http://schemas.openxmlformats.org/officeDocument/2006/relationships/notesMaster" Target="/ppt/notesMasters/notesMaster1.xml" Id="R382f446fc2a84d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2dde24918bb4ffa" /><Relationship Type="http://schemas.openxmlformats.org/officeDocument/2006/relationships/notesMaster" Target="/ppt/notesMasters/notesMaster1.xml" Id="Rbd11cda6df9d47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c209b006bb4112" /><Relationship Type="http://schemas.openxmlformats.org/officeDocument/2006/relationships/notesMaster" Target="/ppt/notesMasters/notesMaster1.xml" Id="R64ff272471e8497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67031ce1f004315" /><Relationship Type="http://schemas.openxmlformats.org/officeDocument/2006/relationships/notesMaster" Target="/ppt/notesMasters/notesMaster1.xml" Id="R9fa0498d013241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1cda95e6b104bdb" /><Relationship Type="http://schemas.openxmlformats.org/officeDocument/2006/relationships/notesMaster" Target="/ppt/notesMasters/notesMaster1.xml" Id="Rd27fe4fd9b924d3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e03413a256646ae" /><Relationship Type="http://schemas.openxmlformats.org/officeDocument/2006/relationships/notesMaster" Target="/ppt/notesMasters/notesMaster1.xml" Id="R531d81a6bfad4a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a3c1a3e48948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8ef89eec374aeb" /><Relationship Type="http://schemas.openxmlformats.org/officeDocument/2006/relationships/slideLayout" Target="/ppt/slideLayouts/slideLayout1.xml" Id="R8b80d70f22534e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80d70f22534e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e4e9f5bbc349be" /><Relationship Type="http://schemas.openxmlformats.org/officeDocument/2006/relationships/notesSlide" Target="/ppt/notesSlides/notesSlide1.xml" Id="R4b9bdaaecadd4b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23b6d506a8457c" /><Relationship Type="http://schemas.openxmlformats.org/officeDocument/2006/relationships/notesSlide" Target="/ppt/notesSlides/notesSlide2.xml" Id="Rcfae9b3cd002422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2e70151944360" /><Relationship Type="http://schemas.openxmlformats.org/officeDocument/2006/relationships/notesSlide" Target="/ppt/notesSlides/notesSlide3.xml" Id="R7686916023cb465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9bf3b67a54d78" /><Relationship Type="http://schemas.openxmlformats.org/officeDocument/2006/relationships/notesSlide" Target="/ppt/notesSlides/notesSlide4.xml" Id="Raed8ef02e0f149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2e095e390946fb" /><Relationship Type="http://schemas.openxmlformats.org/officeDocument/2006/relationships/notesSlide" Target="/ppt/notesSlides/notesSlide5.xml" Id="Re628e2b96f24443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0cfb33241d4d26" /><Relationship Type="http://schemas.openxmlformats.org/officeDocument/2006/relationships/notesSlide" Target="/ppt/notesSlides/notesSlide6.xml" Id="R7430e95f0b2b4e6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5ce1b1071b47af" /><Relationship Type="http://schemas.openxmlformats.org/officeDocument/2006/relationships/notesSlide" Target="/ppt/notesSlides/notesSlide7.xml" Id="Rc78bff6e6a0442a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1a195d1504986" /><Relationship Type="http://schemas.openxmlformats.org/officeDocument/2006/relationships/notesSlide" Target="/ppt/notesSlides/notesSlide8.xml" Id="Ra1cee410a2dc47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3317AF-CDC1-4DFB-BE37-1A837F350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7A5B"/>
                </a:solidFill>
              </a:defRPr>
            </a:pPr>
            <a:r>
              <a:rPr sz="1275" b="1">
                <a:solidFill>
                  <a:srgbClr val="1F7A5B"/>
                </a:solidFill>
              </a:rPr>
              <a:t>RELAYOPS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BD4084-F9DD-4473-A837-C9EA48D9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7429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01820"/>
                </a:solidFill>
              </a:defRPr>
            </a:pPr>
            <a:r>
              <a:rPr sz="4950" b="1">
                <a:solidFill>
                  <a:srgbClr val="101820"/>
                </a:solidFill>
              </a:rPr>
              <a:t>AI Rebooking Agent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0A7DC-8808-4E93-A875-2B288C39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685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36268"/>
                </a:solidFill>
              </a:defRPr>
            </a:pPr>
            <a:r>
              <a:rPr sz="2100" b="0">
                <a:solidFill>
                  <a:srgbClr val="536268"/>
                </a:solidFill>
              </a:rPr>
              <a:t>A Slack-native AI employee that finds overdue customers and helps small businesses recover repeat revenue.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3E9763-DCCE-4512-8100-7BC3D0E3D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619250"/>
            <a:ext cx="3429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2"/>
          </a:solidFill>
          <a:ln xmlns:a="http://schemas.openxmlformats.org/drawingml/2006/main" w="9525">
            <a:solidFill>
              <a:srgbClr val="DCE5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8840F-75DF-4D86-B252-75C4236D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847850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7A5B"/>
                </a:solidFill>
              </a:defRPr>
            </a:pPr>
            <a:r>
              <a:rPr sz="3600" b="1">
                <a:solidFill>
                  <a:srgbClr val="1F7A5B"/>
                </a:solidFill>
              </a:rPr>
              <a:t>81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8AB82-1ACB-41D5-8BCE-B745B87E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4574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68"/>
                </a:solidFill>
              </a:defRPr>
            </a:pPr>
            <a:r>
              <a:rPr sz="1350" b="0">
                <a:solidFill>
                  <a:srgbClr val="536268"/>
                </a:solidFill>
              </a:rPr>
              <a:t>overdue customers in demo scan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6693DA-A727-4C43-BD11-707102D8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190875"/>
            <a:ext cx="34290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2"/>
          </a:solidFill>
          <a:ln xmlns:a="http://schemas.openxmlformats.org/drawingml/2006/main" w="9525">
            <a:solidFill>
              <a:srgbClr val="DCE5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32DDD-0E22-4EB1-AA47-FFAED1CA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419475"/>
            <a:ext cx="297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F6F9F"/>
                </a:solidFill>
              </a:defRPr>
            </a:pPr>
            <a:r>
              <a:rPr sz="3600" b="1">
                <a:solidFill>
                  <a:srgbClr val="2F6F9F"/>
                </a:solidFill>
              </a:rPr>
              <a:t>$7,235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81532F-38BD-4490-B37C-F3F932F2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029075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68"/>
                </a:solidFill>
              </a:defRPr>
            </a:pPr>
            <a:r>
              <a:rPr sz="1350" b="0">
                <a:solidFill>
                  <a:srgbClr val="536268"/>
                </a:solidFill>
              </a:rPr>
              <a:t>estimated recoverable revenue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5FE827-1C49-4017-99D3-D75987FC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36268"/>
                </a:solidFill>
              </a:defRPr>
            </a:pPr>
            <a:r>
              <a:rPr sz="1500" b="0">
                <a:solidFill>
                  <a:srgbClr val="536268"/>
                </a:solidFill>
              </a:rPr>
              <a:t>UiPath AgentHack · Track 2: UiPath Maestro BPMN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BB1755-1E9E-4538-B596-8AD90A05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68"/>
                </a:solidFill>
              </a:defRPr>
            </a:pPr>
            <a:r>
              <a:rPr sz="1050" b="0">
                <a:solidFill>
                  <a:srgbClr val="536268"/>
                </a:solidFill>
              </a:rPr>
              <a:t>RelayOps AI Rebooking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FD1B3D-D6CD-418F-B9F2-C4397D5D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268"/>
                </a:solidFill>
              </a:defRPr>
            </a:pPr>
            <a:r>
              <a:rPr sz="1050" b="0">
                <a:solidFill>
                  <a:srgbClr val="53626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314840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50BEE3-437B-445C-B837-256C66B51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7A5B"/>
                </a:solidFill>
              </a:defRPr>
            </a:pPr>
            <a:r>
              <a:rPr sz="1200" b="1">
                <a:solidFill>
                  <a:srgbClr val="1F7A5B"/>
                </a:solidFill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259150-BCE5-42E8-BD9A-C227FD7C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</a:defRPr>
            </a:pPr>
            <a:r>
              <a:rPr sz="3150" b="1">
                <a:solidFill>
                  <a:srgbClr val="101820"/>
                </a:solidFill>
              </a:rPr>
              <a:t>Repeat revenue leaks are hiding in plain sight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5AE81C-F109-4729-9A5D-9F151621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7"/>
          </a:solidFill>
          <a:ln xmlns:a="http://schemas.openxmlformats.org/drawingml/2006/main" w="0">
            <a:solidFill>
              <a:srgbClr val="B8C2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0B786-8CF1-44D9-9F17-02440EC97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68"/>
                </a:solidFill>
              </a:defRPr>
            </a:pPr>
            <a:r>
              <a:rPr sz="1050" b="0">
                <a:solidFill>
                  <a:srgbClr val="536268"/>
                </a:solidFill>
              </a:rPr>
              <a:t>RelayOps AI Rebooking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8633BD-EED0-474B-A1AC-ED91EFD7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268"/>
                </a:solidFill>
              </a:defRPr>
            </a:pPr>
            <a:r>
              <a:rPr sz="1050" b="0">
                <a:solidFill>
                  <a:srgbClr val="536268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1A194E-D0F9-4FAC-ACBC-49211DCD1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B"/>
          </a:solidFill>
          <a:ln xmlns:a="http://schemas.openxmlformats.org/drawingml/2006/main" w="0">
            <a:solidFill>
              <a:srgbClr val="1F7A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7DC876-9C10-45BE-BCC0-5FC228B8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95500"/>
            <a:ext cx="6496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820"/>
                </a:solidFill>
              </a:defRPr>
            </a:pPr>
            <a:r>
              <a:rPr sz="1950" b="0">
                <a:solidFill>
                  <a:srgbClr val="101820"/>
                </a:solidFill>
              </a:rPr>
              <a:t>SMBs rely on manual calls, memory, or scattered CRM notes for customer follow-up.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17E919-403C-41DC-8F8D-32DCD0BF8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B"/>
          </a:solidFill>
          <a:ln xmlns:a="http://schemas.openxmlformats.org/drawingml/2006/main" w="0">
            <a:solidFill>
              <a:srgbClr val="1F7A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4350A-EE43-4ED6-829A-5EDF9A15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6496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820"/>
                </a:solidFill>
              </a:defRPr>
            </a:pPr>
            <a:r>
              <a:rPr sz="1950" b="0">
                <a:solidFill>
                  <a:srgbClr val="101820"/>
                </a:solidFill>
              </a:rPr>
              <a:t>Staff rarely know who is overdue, who is valuable, and what to say first.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F46C67-0768-41EB-AFD5-330FF614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B"/>
          </a:solidFill>
          <a:ln xmlns:a="http://schemas.openxmlformats.org/drawingml/2006/main" w="0">
            <a:solidFill>
              <a:srgbClr val="1F7A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380486-5394-4FD4-AC7E-0160E33A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05200"/>
            <a:ext cx="6496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01820"/>
                </a:solidFill>
              </a:defRPr>
            </a:pPr>
            <a:r>
              <a:rPr sz="1950" b="0">
                <a:solidFill>
                  <a:srgbClr val="101820"/>
                </a:solidFill>
              </a:rPr>
              <a:t>Missed rebooking means lost revenue from customers the business already earned.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F7F841-9478-458F-86FC-742FCD9F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190750"/>
            <a:ext cx="3143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2"/>
          </a:solidFill>
          <a:ln xmlns:a="http://schemas.openxmlformats.org/drawingml/2006/main" w="9525">
            <a:solidFill>
              <a:srgbClr val="DCE5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4D9A0D-2AC5-4D53-8964-92DF388C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1935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2A541"/>
                </a:solidFill>
              </a:defRPr>
            </a:pPr>
            <a:r>
              <a:rPr sz="3600" b="1">
                <a:solidFill>
                  <a:srgbClr val="F2A541"/>
                </a:solidFill>
              </a:rPr>
              <a:t>No automation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09F7D1-4ED3-4D81-B83A-D826A8D9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2895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68"/>
                </a:solidFill>
              </a:defRPr>
            </a:pPr>
            <a:r>
              <a:rPr sz="1350" b="0">
                <a:solidFill>
                  <a:srgbClr val="536268"/>
                </a:solidFill>
              </a:rPr>
              <a:t>typical SMB follow-up state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D542A1-FCF8-430F-9A9C-CB584858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3143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2"/>
          </a:solidFill>
          <a:ln xmlns:a="http://schemas.openxmlformats.org/drawingml/2006/main" w="9525">
            <a:solidFill>
              <a:srgbClr val="DCE5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6AFDA1-4643-44F0-97AD-A4D990E4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3860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7A5B"/>
                </a:solidFill>
              </a:defRPr>
            </a:pPr>
            <a:r>
              <a:rPr sz="3600" b="1">
                <a:solidFill>
                  <a:srgbClr val="1F7A5B"/>
                </a:solidFill>
              </a:rPr>
              <a:t>Manual triage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AC1A7E-7AF3-46AE-ADC0-560316E2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482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68"/>
                </a:solidFill>
              </a:defRPr>
            </a:pPr>
            <a:r>
              <a:rPr sz="1350" b="0">
                <a:solidFill>
                  <a:srgbClr val="536268"/>
                </a:solidFill>
              </a:rPr>
              <a:t>calls and notes compete with daily operations</a:t>
            </a:r>
          </a:p>
        </p:txBody>
      </p:sp>
    </p:spTree>
    <p:extLst>
      <p:ext uri="{BB962C8B-B14F-4D97-AF65-F5344CB8AC3E}">
        <p14:creationId xmlns:p14="http://schemas.microsoft.com/office/powerpoint/2010/main" val="150700912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BFAB28-9BB3-412F-8796-6DE712A28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7A5B"/>
                </a:solidFill>
              </a:defRPr>
            </a:pPr>
            <a:r>
              <a:rPr sz="1200" b="1">
                <a:solidFill>
                  <a:srgbClr val="1F7A5B"/>
                </a:solidFill>
              </a:rPr>
              <a:t>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6110F8-ACC1-43FB-B132-0A4EA507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</a:defRPr>
            </a:pPr>
            <a:r>
              <a:rPr sz="3150" b="1">
                <a:solidFill>
                  <a:srgbClr val="101820"/>
                </a:solidFill>
              </a:rPr>
              <a:t>RelayOps becomes the morning recovery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E3D9BA-1F69-459D-9F59-47A68809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7"/>
          </a:solidFill>
          <a:ln xmlns:a="http://schemas.openxmlformats.org/drawingml/2006/main" w="0">
            <a:solidFill>
              <a:srgbClr val="B8C2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CFFED1-E547-48C3-A908-957A1672C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68"/>
                </a:solidFill>
              </a:defRPr>
            </a:pPr>
            <a:r>
              <a:rPr sz="1050" b="0">
                <a:solidFill>
                  <a:srgbClr val="536268"/>
                </a:solidFill>
              </a:rPr>
              <a:t>RelayOps AI Rebooking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3756DF-9D0A-4C81-894B-B840908F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268"/>
                </a:solidFill>
              </a:defRPr>
            </a:pPr>
            <a:r>
              <a:rPr sz="1050" b="0">
                <a:solidFill>
                  <a:srgbClr val="536268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5371C6-79CF-46A1-88F6-0DB864EB9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0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2"/>
          </a:solidFill>
          <a:ln xmlns:a="http://schemas.openxmlformats.org/drawingml/2006/main" w="9525">
            <a:solidFill>
              <a:srgbClr val="DCE5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93230B-F1A0-4E8A-9CC0-FC2E5EE2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7A5B"/>
                </a:solidFill>
              </a:defRPr>
            </a:pPr>
            <a:r>
              <a:rPr sz="2250" b="1">
                <a:solidFill>
                  <a:srgbClr val="1F7A5B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93DED-50FA-4A6F-B623-4F504373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050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Scan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14BCF1-4808-4B52-896C-1C196ADD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68"/>
                </a:solidFill>
              </a:defRPr>
            </a:pPr>
            <a:r>
              <a:rPr sz="1350" b="0">
                <a:solidFill>
                  <a:srgbClr val="536268"/>
                </a:solidFill>
              </a:rPr>
              <a:t>Review booking and CRM data every morning.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9DCA24-C126-420F-BC7B-A289B2B0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95500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2"/>
          </a:solidFill>
          <a:ln xmlns:a="http://schemas.openxmlformats.org/drawingml/2006/main" w="9525">
            <a:solidFill>
              <a:srgbClr val="DCE5E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47EF6B-4A83-46F9-B7FF-DBFC8DC3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2669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F9F"/>
                </a:solidFill>
              </a:defRPr>
            </a:pPr>
            <a:r>
              <a:rPr sz="2250" b="1">
                <a:solidFill>
                  <a:srgbClr val="2F6F9F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759F4E-7A4D-4A24-8A5E-2612AC00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3050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Score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A872B-A181-4387-A122-5FBA38FB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0035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68"/>
                </a:solidFill>
              </a:defRPr>
            </a:pPr>
            <a:r>
              <a:rPr sz="1350" b="0">
                <a:solidFill>
                  <a:srgbClr val="536268"/>
                </a:solidFill>
              </a:rPr>
              <a:t>Rank overdue customers by return gap, spend, loyalty, VIP status, and consent.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8468D1-8E87-4DBF-AB4D-58A87B44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095500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2"/>
          </a:solidFill>
          <a:ln xmlns:a="http://schemas.openxmlformats.org/drawingml/2006/main" w="9525">
            <a:solidFill>
              <a:srgbClr val="DCE5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B775A8-23F7-4ED9-9F97-79B1536D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669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7A5B"/>
                </a:solidFill>
              </a:defRPr>
            </a:pPr>
            <a:r>
              <a:rPr sz="2250" b="1">
                <a:solidFill>
                  <a:srgbClr val="1F7A5B"/>
                </a:solidFill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C66F71-BE38-4EDD-A525-C7095AA6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050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967FB7-85B2-4114-A24B-12402D23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0035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68"/>
                </a:solidFill>
              </a:defRPr>
            </a:pPr>
            <a:r>
              <a:rPr sz="1350" b="0">
                <a:solidFill>
                  <a:srgbClr val="536268"/>
                </a:solidFill>
              </a:rPr>
              <a:t>Generate Slack reports, outreach drafts, and staff action buttons.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D0B8AF-3A77-4E43-903F-9D5EEE378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95500"/>
            <a:ext cx="2571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2"/>
          </a:solidFill>
          <a:ln xmlns:a="http://schemas.openxmlformats.org/drawingml/2006/main" w="9525">
            <a:solidFill>
              <a:srgbClr val="DCE5E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908F8D-1FF5-44E1-A24E-D3746FA8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26695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2A541"/>
                </a:solidFill>
              </a:defRPr>
            </a:pPr>
            <a:r>
              <a:rPr sz="2250" b="1">
                <a:solidFill>
                  <a:srgbClr val="F2A541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665C84-60C1-4296-AD79-9F9BAC9C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3050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Log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BCB26F-BB13-4840-A221-CE1D0EA3C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800350"/>
            <a:ext cx="219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68"/>
                </a:solidFill>
              </a:defRPr>
            </a:pPr>
            <a:r>
              <a:rPr sz="1350" b="0">
                <a:solidFill>
                  <a:srgbClr val="536268"/>
                </a:solidFill>
              </a:rPr>
              <a:t>Record contacted customers so the next scan stays useful.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0DC93B-37EB-4FFC-9ED5-A038835A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10287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01820"/>
                </a:solidFill>
              </a:defRPr>
            </a:pPr>
            <a:r>
              <a:rPr sz="2250" b="1">
                <a:solidFill>
                  <a:srgbClr val="101820"/>
                </a:solidFill>
              </a:rPr>
              <a:t>Built for staff who do not have automation teams: simple questions, grounded answers, visible ROI.</a:t>
            </a:r>
          </a:p>
        </p:txBody>
      </p:sp>
    </p:spTree>
    <p:extLst>
      <p:ext uri="{BB962C8B-B14F-4D97-AF65-F5344CB8AC3E}">
        <p14:creationId xmlns:p14="http://schemas.microsoft.com/office/powerpoint/2010/main" val="163868219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9668BE-EC28-455F-9FB8-2803C18A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7A5B"/>
                </a:solidFill>
              </a:defRPr>
            </a:pPr>
            <a:r>
              <a:rPr sz="1200" b="1">
                <a:solidFill>
                  <a:srgbClr val="1F7A5B"/>
                </a:solidFill>
              </a:rPr>
              <a:t>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74C5F-285F-4A5A-92AD-07F5B87F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</a:defRPr>
            </a:pPr>
            <a:r>
              <a:rPr sz="3150" b="1">
                <a:solidFill>
                  <a:srgbClr val="101820"/>
                </a:solidFill>
              </a:rPr>
              <a:t>The MVP already runs an end-to-end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0B45F8-FB02-4692-8240-CDC03083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7"/>
          </a:solidFill>
          <a:ln xmlns:a="http://schemas.openxmlformats.org/drawingml/2006/main" w="0">
            <a:solidFill>
              <a:srgbClr val="B8C2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EC42B4-9BB9-4C67-B832-F2729FFB2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68"/>
                </a:solidFill>
              </a:defRPr>
            </a:pPr>
            <a:r>
              <a:rPr sz="1050" b="0">
                <a:solidFill>
                  <a:srgbClr val="536268"/>
                </a:solidFill>
              </a:rPr>
              <a:t>RelayOps AI Rebooking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2463AA-262A-428C-9269-F62D7608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268"/>
                </a:solidFill>
              </a:defRPr>
            </a:pPr>
            <a:r>
              <a:rPr sz="1050" b="0">
                <a:solidFill>
                  <a:srgbClr val="536268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ECAC2D-AD83-4F4E-A218-C44C0654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143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2"/>
          </a:solidFill>
          <a:ln xmlns:a="http://schemas.openxmlformats.org/drawingml/2006/main" w="9525">
            <a:solidFill>
              <a:srgbClr val="DCE5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7BF55-B082-4462-9562-10EE866B6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7A5B"/>
                </a:solidFill>
              </a:defRPr>
            </a:pPr>
            <a:r>
              <a:rPr sz="3600" b="1">
                <a:solidFill>
                  <a:srgbClr val="1F7A5B"/>
                </a:solidFill>
              </a:rPr>
              <a:t>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339B1-772A-4F98-A540-8D1531F1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68"/>
                </a:solidFill>
              </a:defRPr>
            </a:pPr>
            <a:r>
              <a:rPr sz="1350" b="0">
                <a:solidFill>
                  <a:srgbClr val="536268"/>
                </a:solidFill>
              </a:rPr>
              <a:t>mock customers with appointment history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056916-0967-44F9-83C3-25758F68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143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2"/>
          </a:solidFill>
          <a:ln xmlns:a="http://schemas.openxmlformats.org/drawingml/2006/main" w="9525">
            <a:solidFill>
              <a:srgbClr val="DCE5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16E72-EFF6-4265-B151-C5F5A224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32410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F6F9F"/>
                </a:solidFill>
              </a:defRPr>
            </a:pPr>
            <a:r>
              <a:rPr sz="3600" b="1">
                <a:solidFill>
                  <a:srgbClr val="2F6F9F"/>
                </a:solidFill>
              </a:rPr>
              <a:t>32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9D9E98-C35A-4AB4-8A00-8EB2B9BB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9337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68"/>
                </a:solidFill>
              </a:defRPr>
            </a:pPr>
            <a:r>
              <a:rPr sz="1350" b="0">
                <a:solidFill>
                  <a:srgbClr val="536268"/>
                </a:solidFill>
              </a:rPr>
              <a:t>high-priority recovery opportunities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42E0ED-80AE-426C-BE6C-F287E6F7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3143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2"/>
          </a:solidFill>
          <a:ln xmlns:a="http://schemas.openxmlformats.org/drawingml/2006/main" w="9525">
            <a:solidFill>
              <a:srgbClr val="DCE5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598270-3175-4A94-BF73-8EF615FCC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2410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2A541"/>
                </a:solidFill>
              </a:defRPr>
            </a:pPr>
            <a:r>
              <a:rPr sz="3600" b="1">
                <a:solidFill>
                  <a:srgbClr val="F2A541"/>
                </a:solidFill>
              </a:rPr>
              <a:t>$7.2K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EE5966-E899-422E-A1BA-D2EF8C1A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337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68"/>
                </a:solidFill>
              </a:defRPr>
            </a:pPr>
            <a:r>
              <a:rPr sz="1350" b="0">
                <a:solidFill>
                  <a:srgbClr val="536268"/>
                </a:solidFill>
              </a:rPr>
              <a:t>recoverable revenue estimated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64A6E3-3AC2-4D4E-83E6-F7AF02D4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820"/>
                </a:solidFill>
              </a:defRPr>
            </a:pPr>
            <a:r>
              <a:rPr sz="2025" b="1">
                <a:solidFill>
                  <a:srgbClr val="101820"/>
                </a:solidFill>
              </a:rPr>
              <a:t>Slack questions supported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58BCBC-8E22-40D0-80E9-46CFB3E4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B"/>
          </a:solidFill>
          <a:ln xmlns:a="http://schemas.openxmlformats.org/drawingml/2006/main" w="0">
            <a:solidFill>
              <a:srgbClr val="1F7A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165D74-50D1-43F8-9370-A8DA434D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06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0"/>
                </a:solidFill>
              </a:defRPr>
            </a:pPr>
            <a:r>
              <a:rPr sz="1650" b="0">
                <a:solidFill>
                  <a:srgbClr val="101820"/>
                </a:solidFill>
              </a:rPr>
              <a:t>Which customers should we contact today?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E1F596-7193-45A1-9628-F47660F7B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B"/>
          </a:solidFill>
          <a:ln xmlns:a="http://schemas.openxmlformats.org/drawingml/2006/main" w="0">
            <a:solidFill>
              <a:srgbClr val="1F7A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CB7B5E-E0C0-4AF4-AF96-80609DD3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29200"/>
            <a:ext cx="906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0"/>
                </a:solidFill>
              </a:defRPr>
            </a:pPr>
            <a:r>
              <a:rPr sz="1650" b="0">
                <a:solidFill>
                  <a:srgbClr val="101820"/>
                </a:solidFill>
              </a:rPr>
              <a:t>Who has not returned in 90 days?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1E84D4-E056-4D83-81B7-2A4E09C2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86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B"/>
          </a:solidFill>
          <a:ln xmlns:a="http://schemas.openxmlformats.org/drawingml/2006/main" w="0">
            <a:solidFill>
              <a:srgbClr val="1F7A5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9F3496-2559-4525-A72C-79E60B0D8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91150"/>
            <a:ext cx="906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0"/>
                </a:solidFill>
              </a:defRPr>
            </a:pPr>
            <a:r>
              <a:rPr sz="1650" b="0">
                <a:solidFill>
                  <a:srgbClr val="101820"/>
                </a:solidFill>
              </a:rPr>
              <a:t>Show overdue VIP customers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B32E19-9012-42C1-8B9E-081BD733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483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B"/>
          </a:solidFill>
          <a:ln xmlns:a="http://schemas.openxmlformats.org/drawingml/2006/main" w="0">
            <a:solidFill>
              <a:srgbClr val="1F7A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E4FD4F-2DF7-4A9B-A6A8-19B74500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53100"/>
            <a:ext cx="9067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0"/>
                </a:solidFill>
              </a:defRPr>
            </a:pPr>
            <a:r>
              <a:rPr sz="1650" b="0">
                <a:solidFill>
                  <a:srgbClr val="101820"/>
                </a:solidFill>
              </a:rPr>
              <a:t>Draft a follow-up message</a:t>
            </a:r>
          </a:p>
        </p:txBody>
      </p:sp>
    </p:spTree>
    <p:extLst>
      <p:ext uri="{BB962C8B-B14F-4D97-AF65-F5344CB8AC3E}">
        <p14:creationId xmlns:p14="http://schemas.microsoft.com/office/powerpoint/2010/main" val="6902070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B5C1EB-BE4D-47E9-A37F-0BF7E2CA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7A5B"/>
                </a:solidFill>
              </a:defRPr>
            </a:pPr>
            <a:r>
              <a:rPr sz="1200" b="1">
                <a:solidFill>
                  <a:srgbClr val="1F7A5B"/>
                </a:solidFill>
              </a:rPr>
              <a:t>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F6500B-25C1-40F2-B990-0760F87D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</a:defRPr>
            </a:pPr>
            <a:r>
              <a:rPr sz="3150" b="1">
                <a:solidFill>
                  <a:srgbClr val="101820"/>
                </a:solidFill>
              </a:rPr>
              <a:t>AI is grounded in tools, not guesses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800BDD-4F06-4589-A69B-3FA7968FF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7"/>
          </a:solidFill>
          <a:ln xmlns:a="http://schemas.openxmlformats.org/drawingml/2006/main" w="0">
            <a:solidFill>
              <a:srgbClr val="B8C2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E080EC-DF85-447D-9236-42B461AF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68"/>
                </a:solidFill>
              </a:defRPr>
            </a:pPr>
            <a:r>
              <a:rPr sz="1050" b="0">
                <a:solidFill>
                  <a:srgbClr val="536268"/>
                </a:solidFill>
              </a:rPr>
              <a:t>RelayOps AI Rebooking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F9CA1-5EB6-42E8-A04C-335FCA00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268"/>
                </a:solidFill>
              </a:defRPr>
            </a:pPr>
            <a:r>
              <a:rPr sz="1050" b="0">
                <a:solidFill>
                  <a:srgbClr val="536268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964BA9-99F8-4E23-A3FA-F2DCFEDE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0383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2"/>
          </a:solidFill>
          <a:ln xmlns:a="http://schemas.openxmlformats.org/drawingml/2006/main" w="9525">
            <a:solidFill>
              <a:srgbClr val="DCE5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4C4F1-EC29-421C-9910-00CF18BA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9555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5B"/>
                </a:solidFill>
              </a:defRPr>
            </a:pPr>
            <a:r>
              <a:rPr sz="1875" b="1">
                <a:solidFill>
                  <a:srgbClr val="1F7A5B"/>
                </a:solidFill>
              </a:rPr>
              <a:t>Slack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B448C8-691A-4297-AB22-6BE50B54C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68"/>
                </a:solidFill>
              </a:defRPr>
            </a:pPr>
            <a:r>
              <a:rPr sz="1350" b="0">
                <a:solidFill>
                  <a:srgbClr val="536268"/>
                </a:solidFill>
              </a:rPr>
              <a:t>DMs, mentions, /relayops, buttons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B2914F-C0CF-4A15-BD8D-11F70FBFE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86000"/>
            <a:ext cx="20383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2"/>
          </a:solidFill>
          <a:ln xmlns:a="http://schemas.openxmlformats.org/drawingml/2006/main" w="9525">
            <a:solidFill>
              <a:srgbClr val="DCE5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96C949-DCA7-4DE1-A8E9-2661228B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49555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6F9F"/>
                </a:solidFill>
              </a:defRPr>
            </a:pPr>
            <a:r>
              <a:rPr sz="1875" b="1">
                <a:solidFill>
                  <a:srgbClr val="2F6F9F"/>
                </a:solidFill>
              </a:rPr>
              <a:t>Bolt App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A61FF6-2EB6-4EEC-9DB5-A949D08A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914650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68"/>
                </a:solidFill>
              </a:defRPr>
            </a:pPr>
            <a:r>
              <a:rPr sz="1350" b="0">
                <a:solidFill>
                  <a:srgbClr val="536268"/>
                </a:solidFill>
              </a:rPr>
              <a:t>TypeScript Node runtime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501351-2F1B-4622-B1D0-321E61038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286000"/>
            <a:ext cx="20383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2"/>
          </a:solidFill>
          <a:ln xmlns:a="http://schemas.openxmlformats.org/drawingml/2006/main" w="9525">
            <a:solidFill>
              <a:srgbClr val="DCE5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66C9BB-83A5-4808-B181-17F853F1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49555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F7A5B"/>
                </a:solidFill>
              </a:defRPr>
            </a:pPr>
            <a:r>
              <a:rPr sz="1875" b="1">
                <a:solidFill>
                  <a:srgbClr val="1F7A5B"/>
                </a:solidFill>
              </a:rPr>
              <a:t>Agent Tools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CE4301-A25F-46BF-9753-98A294A9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914650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68"/>
                </a:solidFill>
              </a:defRPr>
            </a:pPr>
            <a:r>
              <a:rPr sz="1350" b="0">
                <a:solidFill>
                  <a:srgbClr val="536268"/>
                </a:solidFill>
              </a:rPr>
              <a:t>scan, filter, draft, summarize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028D5D-BC27-44E5-A1B5-2F1A97DC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86000"/>
            <a:ext cx="20383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2"/>
          </a:solidFill>
          <a:ln xmlns:a="http://schemas.openxmlformats.org/drawingml/2006/main" w="9525">
            <a:solidFill>
              <a:srgbClr val="DCE5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CEF5EE-FFD3-47D0-9E3B-10B3C65CD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495550"/>
            <a:ext cx="1695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2A541"/>
                </a:solidFill>
              </a:defRPr>
            </a:pPr>
            <a:r>
              <a:rPr sz="1875" b="1">
                <a:solidFill>
                  <a:srgbClr val="F2A541"/>
                </a:solidFill>
              </a:rPr>
              <a:t>Data Store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FF9286-4506-4CBD-81B2-755AEAD4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914650"/>
            <a:ext cx="1695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68"/>
                </a:solidFill>
              </a:defRPr>
            </a:pPr>
            <a:r>
              <a:rPr sz="1350" b="0">
                <a:solidFill>
                  <a:srgbClr val="536268"/>
                </a:solidFill>
              </a:rPr>
              <a:t>SQLite now, PostgreSQL next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7CBB2C-6372-4700-8191-831DF9F6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0055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OpenAI GPT function calling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D31D29-33B4-427C-8115-CD854BED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38700"/>
            <a:ext cx="685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36268"/>
                </a:solidFill>
              </a:defRPr>
            </a:pPr>
            <a:r>
              <a:rPr sz="1650" b="0">
                <a:solidFill>
                  <a:srgbClr val="536268"/>
                </a:solidFill>
              </a:rPr>
              <a:t>GPT produces language and reasoning only after structured tools retrieve customer facts.</a:t>
            </a:r>
          </a:p>
        </p:txBody>
      </p:sp>
    </p:spTree>
    <p:extLst>
      <p:ext uri="{BB962C8B-B14F-4D97-AF65-F5344CB8AC3E}">
        <p14:creationId xmlns:p14="http://schemas.microsoft.com/office/powerpoint/2010/main" val="4500197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904A64-A7B3-4891-A00A-F39A4324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7A5B"/>
                </a:solidFill>
              </a:defRPr>
            </a:pPr>
            <a:r>
              <a:rPr sz="1200" b="1">
                <a:solidFill>
                  <a:srgbClr val="1F7A5B"/>
                </a:solidFill>
              </a:rPr>
              <a:t>UIPATH MAESTRO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70D3BB-A681-422C-9CDE-3C27E320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</a:defRPr>
            </a:pPr>
            <a:r>
              <a:rPr sz="3150" b="1">
                <a:solidFill>
                  <a:srgbClr val="101820"/>
                </a:solidFill>
              </a:rPr>
              <a:t>Track 2 fit: a repeatable BPMN recovery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C3828-5AFF-474E-AF50-75DABF0E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7"/>
          </a:solidFill>
          <a:ln xmlns:a="http://schemas.openxmlformats.org/drawingml/2006/main" w="0">
            <a:solidFill>
              <a:srgbClr val="B8C2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C314F-D689-4405-956C-7338BF3E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68"/>
                </a:solidFill>
              </a:defRPr>
            </a:pPr>
            <a:r>
              <a:rPr sz="1050" b="0">
                <a:solidFill>
                  <a:srgbClr val="536268"/>
                </a:solidFill>
              </a:rPr>
              <a:t>RelayOps AI Rebooking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A2654D-86D1-46BC-80CC-FABF2573E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268"/>
                </a:solidFill>
              </a:defRPr>
            </a:pPr>
            <a:r>
              <a:rPr sz="1050" b="0">
                <a:solidFill>
                  <a:srgbClr val="536268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7A97E2-40BB-4511-9160-1EBEDF45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B"/>
          </a:solidFill>
          <a:ln xmlns:a="http://schemas.openxmlformats.org/drawingml/2006/main" w="0">
            <a:solidFill>
              <a:srgbClr val="1F7A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A4592-5975-45A1-9FBB-F4A10EDB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71700"/>
            <a:ext cx="6210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</a:defRPr>
            </a:pPr>
            <a:r>
              <a:rPr sz="1875" b="0">
                <a:solidFill>
                  <a:srgbClr val="101820"/>
                </a:solidFill>
              </a:rPr>
              <a:t>The workflow is predictable: scan records, score customers, route staff tasks, log outcomes.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96418-FE29-4B55-A914-0E29ABE57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B"/>
          </a:solidFill>
          <a:ln xmlns:a="http://schemas.openxmlformats.org/drawingml/2006/main" w="0">
            <a:solidFill>
              <a:srgbClr val="1F7A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209F99-E146-409C-8C65-1C661FADE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57500"/>
            <a:ext cx="6210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</a:defRPr>
            </a:pPr>
            <a:r>
              <a:rPr sz="1875" b="0">
                <a:solidFill>
                  <a:srgbClr val="101820"/>
                </a:solidFill>
              </a:rPr>
              <a:t>Maestro BPMN can govern handoffs between systems, AI steps, and human approvals.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C2302-0B7E-460E-B546-5BAB25DFF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B"/>
          </a:solidFill>
          <a:ln xmlns:a="http://schemas.openxmlformats.org/drawingml/2006/main" w="0">
            <a:solidFill>
              <a:srgbClr val="1F7A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929F69-3AC3-4EB7-AADB-66AA88683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43300"/>
            <a:ext cx="6210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</a:defRPr>
            </a:pPr>
            <a:r>
              <a:rPr sz="1875" b="0">
                <a:solidFill>
                  <a:srgbClr val="101820"/>
                </a:solidFill>
              </a:rPr>
              <a:t>Future production flow can connect booking apps, CRM exports, Slack, and reporting.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B0519-AA17-4841-B515-D91FB267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47875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2"/>
          </a:solidFill>
          <a:ln xmlns:a="http://schemas.openxmlformats.org/drawingml/2006/main" w="9525">
            <a:solidFill>
              <a:srgbClr val="DCE5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FC61D3-72E7-40FE-9ABF-6A89BC3FD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21932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F7A5B"/>
                </a:solidFill>
              </a:defRPr>
            </a:pPr>
            <a:r>
              <a:rPr sz="2250" b="1">
                <a:solidFill>
                  <a:srgbClr val="1F7A5B"/>
                </a:solidFill>
              </a:rPr>
              <a:t>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95F7D-2AB7-4D90-83D5-0DDDE02B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57425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Automated 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732EE8-29DE-4C6B-94C7-86512411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52725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68"/>
                </a:solidFill>
              </a:defRPr>
            </a:pPr>
            <a:r>
              <a:rPr sz="1350" b="0">
                <a:solidFill>
                  <a:srgbClr val="536268"/>
                </a:solidFill>
              </a:rPr>
              <a:t>Data import, scoring, summary generation.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B03C72-E042-49E0-9253-4FCE17C9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857625"/>
            <a:ext cx="31432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2"/>
          </a:solidFill>
          <a:ln xmlns:a="http://schemas.openxmlformats.org/drawingml/2006/main" w="9525">
            <a:solidFill>
              <a:srgbClr val="DCE5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8A9856-7D24-41DD-ACFF-E6B4B6A9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29075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F9F"/>
                </a:solidFill>
              </a:defRPr>
            </a:pPr>
            <a:r>
              <a:rPr sz="2250" b="1">
                <a:solidFill>
                  <a:srgbClr val="2F6F9F"/>
                </a:solidFill>
              </a:rPr>
              <a:t>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3899D2-0325-4083-A888-77993B56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67175"/>
            <a:ext cx="2152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820"/>
                </a:solidFill>
              </a:defRPr>
            </a:pPr>
            <a:r>
              <a:rPr sz="1800" b="1">
                <a:solidFill>
                  <a:srgbClr val="101820"/>
                </a:solidFill>
              </a:rPr>
              <a:t>Human 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098680-9D5C-43FB-9864-0CF89755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62475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68"/>
                </a:solidFill>
              </a:defRPr>
            </a:pPr>
            <a:r>
              <a:rPr sz="1350" b="0">
                <a:solidFill>
                  <a:srgbClr val="536268"/>
                </a:solidFill>
              </a:rPr>
              <a:t>Approve outreach and contact sensitive customers.</a:t>
            </a:r>
          </a:p>
        </p:txBody>
      </p:sp>
    </p:spTree>
    <p:extLst>
      <p:ext uri="{BB962C8B-B14F-4D97-AF65-F5344CB8AC3E}">
        <p14:creationId xmlns:p14="http://schemas.microsoft.com/office/powerpoint/2010/main" val="10742817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10D5B9-A75D-4293-B99E-1B5FA4C6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7A5B"/>
                </a:solidFill>
              </a:defRPr>
            </a:pPr>
            <a:r>
              <a:rPr sz="1200" b="1">
                <a:solidFill>
                  <a:srgbClr val="1F7A5B"/>
                </a:solidFill>
              </a:rPr>
              <a:t>BUSINESS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0E8923-00A0-4A20-8BFE-5C0ADE616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</a:defRPr>
            </a:pPr>
            <a:r>
              <a:rPr sz="3150" b="1">
                <a:solidFill>
                  <a:srgbClr val="101820"/>
                </a:solidFill>
              </a:rPr>
              <a:t>A focused wedge into SMB revenue operations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B6B71-695E-42AC-98F0-9861C3AC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7"/>
          </a:solidFill>
          <a:ln xmlns:a="http://schemas.openxmlformats.org/drawingml/2006/main" w="0">
            <a:solidFill>
              <a:srgbClr val="B8C2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1CF62D-042F-4443-9489-581DE380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68"/>
                </a:solidFill>
              </a:defRPr>
            </a:pPr>
            <a:r>
              <a:rPr sz="1050" b="0">
                <a:solidFill>
                  <a:srgbClr val="536268"/>
                </a:solidFill>
              </a:rPr>
              <a:t>RelayOps AI Rebooking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980E0-38AF-412B-8B87-7C4469E3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268"/>
                </a:solidFill>
              </a:defRPr>
            </a:pPr>
            <a:r>
              <a:rPr sz="1050" b="0">
                <a:solidFill>
                  <a:srgbClr val="536268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1268F1-486B-4D8A-B4D7-8D2E1F278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143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2"/>
          </a:solidFill>
          <a:ln xmlns:a="http://schemas.openxmlformats.org/drawingml/2006/main" w="9525">
            <a:solidFill>
              <a:srgbClr val="DCE5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34F5FA-D7E1-464D-BDB6-60022763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2410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F7A5B"/>
                </a:solidFill>
              </a:defRPr>
            </a:pPr>
            <a:r>
              <a:rPr sz="3600" b="1">
                <a:solidFill>
                  <a:srgbClr val="1F7A5B"/>
                </a:solidFill>
              </a:rPr>
              <a:t>$99-$299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20541E-0717-426C-971B-B76951A4C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68"/>
                </a:solidFill>
              </a:defRPr>
            </a:pPr>
            <a:r>
              <a:rPr sz="1350" b="0">
                <a:solidFill>
                  <a:srgbClr val="536268"/>
                </a:solidFill>
              </a:rPr>
              <a:t>monthly per location pricing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C2EDBA-C8E4-4C7B-B608-D9177C06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143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2"/>
          </a:solidFill>
          <a:ln xmlns:a="http://schemas.openxmlformats.org/drawingml/2006/main" w="9525">
            <a:solidFill>
              <a:srgbClr val="DCE5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33B0F8-229C-4A65-9312-6EA9EFBF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32410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2F6F9F"/>
                </a:solidFill>
              </a:defRPr>
            </a:pPr>
            <a:r>
              <a:rPr sz="3600" b="1">
                <a:solidFill>
                  <a:srgbClr val="2F6F9F"/>
                </a:solidFill>
              </a:rPr>
              <a:t>1st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0E74B5-9AF0-4897-BC01-839AE22D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9337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68"/>
                </a:solidFill>
              </a:defRPr>
            </a:pPr>
            <a:r>
              <a:rPr sz="1350" b="0">
                <a:solidFill>
                  <a:srgbClr val="536268"/>
                </a:solidFill>
              </a:rPr>
              <a:t>vertical wedge: salons and facial boutiques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DEB63C-AF22-449C-A0F8-5C83F07F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31432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F2"/>
          </a:solidFill>
          <a:ln xmlns:a="http://schemas.openxmlformats.org/drawingml/2006/main" w="9525">
            <a:solidFill>
              <a:srgbClr val="DCE5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7E6017-AE10-4391-A39E-42B4D5F0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24100"/>
            <a:ext cx="2686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2A541"/>
                </a:solidFill>
              </a:defRPr>
            </a:pPr>
            <a:r>
              <a:rPr sz="3600" b="1">
                <a:solidFill>
                  <a:srgbClr val="F2A541"/>
                </a:solidFill>
              </a:rPr>
              <a:t>ROI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C4633F-BD70-4AAC-B02B-070EB918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933700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268"/>
                </a:solidFill>
              </a:defRPr>
            </a:pPr>
            <a:r>
              <a:rPr sz="1350" b="0">
                <a:solidFill>
                  <a:srgbClr val="536268"/>
                </a:solidFill>
              </a:rPr>
              <a:t>recovered appointments fund the product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72A9A0-7203-4039-9506-4AD69831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0"/>
                </a:solidFill>
              </a:defRPr>
            </a:pPr>
            <a:r>
              <a:rPr sz="2100" b="1">
                <a:solidFill>
                  <a:srgbClr val="101820"/>
                </a:solidFill>
              </a:rPr>
              <a:t>Expansion path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0E92E2-2BE2-4B29-B752-579E488D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81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B"/>
          </a:solidFill>
          <a:ln xmlns:a="http://schemas.openxmlformats.org/drawingml/2006/main" w="0">
            <a:solidFill>
              <a:srgbClr val="1F7A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F75871-4E45-48CD-BD67-9723B7EB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86300"/>
            <a:ext cx="925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0"/>
                </a:solidFill>
              </a:defRPr>
            </a:pPr>
            <a:r>
              <a:rPr sz="1650" b="0">
                <a:solidFill>
                  <a:srgbClr val="101820"/>
                </a:solidFill>
              </a:rPr>
              <a:t>Dental, massage, physiotherapy, cleaning, contractors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15F02D-E6BB-4DA1-B4B3-CAAF4D6E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81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B"/>
          </a:solidFill>
          <a:ln xmlns:a="http://schemas.openxmlformats.org/drawingml/2006/main" w="0">
            <a:solidFill>
              <a:srgbClr val="1F7A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9EC578-1A67-4A83-BF6A-4DB06EABB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86350"/>
            <a:ext cx="925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0"/>
                </a:solidFill>
              </a:defRPr>
            </a:pPr>
            <a:r>
              <a:rPr sz="1650" b="0">
                <a:solidFill>
                  <a:srgbClr val="101820"/>
                </a:solidFill>
              </a:rPr>
              <a:t>Booking connectors and multi-location dashboards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77E203-D3D4-4C58-9B23-01B27A9A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B"/>
          </a:solidFill>
          <a:ln xmlns:a="http://schemas.openxmlformats.org/drawingml/2006/main" w="0">
            <a:solidFill>
              <a:srgbClr val="1F7A5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D47154-9D7B-41E2-B29D-D013141B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86400"/>
            <a:ext cx="925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820"/>
                </a:solidFill>
              </a:defRPr>
            </a:pPr>
            <a:r>
              <a:rPr sz="1650" b="0">
                <a:solidFill>
                  <a:srgbClr val="101820"/>
                </a:solidFill>
              </a:rPr>
              <a:t>Retention, reminder, and win-back workflows</a:t>
            </a:r>
          </a:p>
        </p:txBody>
      </p:sp>
    </p:spTree>
    <p:extLst>
      <p:ext uri="{BB962C8B-B14F-4D97-AF65-F5344CB8AC3E}">
        <p14:creationId xmlns:p14="http://schemas.microsoft.com/office/powerpoint/2010/main" val="131621456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1DE6615-A16D-455E-95C8-21645AD96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7A5B"/>
                </a:solidFill>
              </a:defRPr>
            </a:pPr>
            <a:r>
              <a:rPr sz="1200" b="1">
                <a:solidFill>
                  <a:srgbClr val="1F7A5B"/>
                </a:solidFill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6D8A2-AD71-42F1-BDE4-76F426319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239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820"/>
                </a:solidFill>
              </a:defRPr>
            </a:pPr>
            <a:r>
              <a:rPr sz="3150" b="1">
                <a:solidFill>
                  <a:srgbClr val="101820"/>
                </a:solidFill>
              </a:rPr>
              <a:t>Next step: pilot RelayOps with real booking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29C3DF-8D0A-449B-BEC7-6051454F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7"/>
          </a:solidFill>
          <a:ln xmlns:a="http://schemas.openxmlformats.org/drawingml/2006/main" w="0">
            <a:solidFill>
              <a:srgbClr val="B8C2C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76ECE-30C6-45BE-95D9-B47A46A1B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36268"/>
                </a:solidFill>
              </a:defRPr>
            </a:pPr>
            <a:r>
              <a:rPr sz="1050" b="0">
                <a:solidFill>
                  <a:srgbClr val="536268"/>
                </a:solidFill>
              </a:rPr>
              <a:t>RelayOps AI Rebooking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69BB92-0BA5-455F-BE71-0024D231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436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36268"/>
                </a:solidFill>
              </a:defRPr>
            </a:pPr>
            <a:r>
              <a:rPr sz="1050" b="0">
                <a:solidFill>
                  <a:srgbClr val="536268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C87440-7BF2-485D-ABB2-88040ACB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86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B"/>
          </a:solidFill>
          <a:ln xmlns:a="http://schemas.openxmlformats.org/drawingml/2006/main" w="0">
            <a:solidFill>
              <a:srgbClr val="1F7A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AC2C3F-09BA-4E63-94F9-5A0B9E9A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716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</a:defRPr>
            </a:pPr>
            <a:r>
              <a:rPr sz="1875" b="0">
                <a:solidFill>
                  <a:srgbClr val="101820"/>
                </a:solidFill>
              </a:rPr>
              <a:t>Connect Square, Fresha, Mindbody, Jane, Jobber, ServiceTitan, and CSV imports.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313F8-AF01-4D49-8286-E6B0B3C0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71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B"/>
          </a:solidFill>
          <a:ln xmlns:a="http://schemas.openxmlformats.org/drawingml/2006/main" w="0">
            <a:solidFill>
              <a:srgbClr val="1F7A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4E8EFB-815F-4C80-880F-808D0E3C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716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</a:defRPr>
            </a:pPr>
            <a:r>
              <a:rPr sz="1875" b="0">
                <a:solidFill>
                  <a:srgbClr val="101820"/>
                </a:solidFill>
              </a:rPr>
              <a:t>Add PostgreSQL multi-tenancy, consent enforcement, audit logs, and RAG over playbooks.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6EE6F1-2286-41BA-B1DB-B62B8D23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B"/>
          </a:solidFill>
          <a:ln xmlns:a="http://schemas.openxmlformats.org/drawingml/2006/main" w="0">
            <a:solidFill>
              <a:srgbClr val="1F7A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DDB8A1-907B-47A7-A003-71C9C056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716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01820"/>
                </a:solidFill>
              </a:defRPr>
            </a:pPr>
            <a:r>
              <a:rPr sz="1875" b="0">
                <a:solidFill>
                  <a:srgbClr val="101820"/>
                </a:solidFill>
              </a:rPr>
              <a:t>Use UiPath Maestro to orchestrate governed AI + human recovery workflows.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42718C-E6E9-406B-92D6-1A06622C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030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5B"/>
          </a:solidFill>
          <a:ln xmlns:a="http://schemas.openxmlformats.org/drawingml/2006/main" w="0">
            <a:solidFill>
              <a:srgbClr val="1F7A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D28AAB-F8C6-47D5-AB70-689FB0CAD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857500"/>
            <a:ext cx="133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ASK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95FD8D-B599-4676-BDE4-1659DCF9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486150"/>
            <a:ext cx="16764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Pilot partners + booking-system access</a:t>
            </a:r>
          </a:p>
        </p:txBody>
      </p:sp>
    </p:spTree>
    <p:extLst>
      <p:ext uri="{BB962C8B-B14F-4D97-AF65-F5344CB8AC3E}">
        <p14:creationId xmlns:p14="http://schemas.microsoft.com/office/powerpoint/2010/main" val="13683314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2026-06-24T20:05:45.2520000Z</dcterms:created>
  <dcterms:modified xsi:type="dcterms:W3CDTF">2026-06-24T20:05:45.2520000Z</dcterms:modified>
</coreProperties>
</file>